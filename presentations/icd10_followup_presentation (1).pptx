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Automated Codification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Task Analysis &amp; Key Challenges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040880" y="292608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134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0" y="31089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Fundamentals of NLP
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UAB · 2025-26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3977640" cy="960120"/>
          </a:xfrm>
          <a:prstGeom prst="roundRect">
            <a:avLst>
              <a:gd name="adj" fmla="val 5714"/>
            </a:avLst>
          </a:prstGeom>
          <a:solidFill>
            <a:srgbClr val="134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276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"shock septico"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48840" y="16276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97480" y="164592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N189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04825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Map short Spanish medical literals to ICD-10 codes (both diagnosis &amp; procedure)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615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 A GLANCE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889504"/>
            <a:ext cx="932688" cy="868680"/>
          </a:xfrm>
          <a:prstGeom prst="roundRect">
            <a:avLst>
              <a:gd name="adj" fmla="val 6316"/>
            </a:avLst>
          </a:prstGeom>
          <a:solidFill>
            <a:srgbClr val="134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99232"/>
            <a:ext cx="932688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13.7K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4632" y="336727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literals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435608" y="2889504"/>
            <a:ext cx="932688" cy="868680"/>
          </a:xfrm>
          <a:prstGeom prst="roundRect">
            <a:avLst>
              <a:gd name="adj" fmla="val 6316"/>
            </a:avLst>
          </a:prstGeom>
          <a:solidFill>
            <a:srgbClr val="134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608" y="2999232"/>
            <a:ext cx="932688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6.7K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508760" y="336727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literals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59736" y="2889504"/>
            <a:ext cx="932688" cy="868680"/>
          </a:xfrm>
          <a:prstGeom prst="roundRect">
            <a:avLst>
              <a:gd name="adj" fmla="val 6316"/>
            </a:avLst>
          </a:prstGeom>
          <a:solidFill>
            <a:srgbClr val="134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9736" y="2999232"/>
            <a:ext cx="932688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4,059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532888" y="336727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Unique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83864" y="2889504"/>
            <a:ext cx="905256" cy="868680"/>
          </a:xfrm>
          <a:prstGeom prst="roundRect">
            <a:avLst>
              <a:gd name="adj" fmla="val 6316"/>
            </a:avLst>
          </a:prstGeom>
          <a:solidFill>
            <a:srgbClr val="134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83864" y="2999232"/>
            <a:ext cx="905256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180K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557016" y="3367278"/>
            <a:ext cx="758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ICD pairs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1772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1481328"/>
            <a:ext cx="4114800" cy="603504"/>
          </a:xfrm>
          <a:prstGeom prst="roundRect">
            <a:avLst>
              <a:gd name="adj" fmla="val 7576"/>
            </a:avLst>
          </a:prstGeom>
          <a:solidFill>
            <a:srgbClr val="134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90872" y="1563624"/>
            <a:ext cx="658368" cy="438912"/>
          </a:xfrm>
          <a:prstGeom prst="roundRect">
            <a:avLst>
              <a:gd name="adj" fmla="val 10417"/>
            </a:avLst>
          </a:prstGeom>
          <a:solidFill>
            <a:srgbClr val="0D7377"/>
          </a:solidFill>
          <a:ln/>
        </p:spPr>
      </p:sp>
      <p:sp>
        <p:nvSpPr>
          <p:cNvPr id="29" name="Text 27"/>
          <p:cNvSpPr/>
          <p:nvPr/>
        </p:nvSpPr>
        <p:spPr>
          <a:xfrm>
            <a:off x="4690872" y="1563624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0680" y="15361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Extreme long-tail distribution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47% of codes appear once; 76% appear ≤3 times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17720" y="2157984"/>
            <a:ext cx="4114800" cy="603504"/>
          </a:xfrm>
          <a:prstGeom prst="roundRect">
            <a:avLst>
              <a:gd name="adj" fmla="val 7576"/>
            </a:avLst>
          </a:prstGeom>
          <a:solidFill>
            <a:srgbClr val="134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90872" y="2240280"/>
            <a:ext cx="658368" cy="438912"/>
          </a:xfrm>
          <a:prstGeom prst="roundRect">
            <a:avLst>
              <a:gd name="adj" fmla="val 10417"/>
            </a:avLst>
          </a:prstGeom>
          <a:solidFill>
            <a:srgbClr val="0D7377"/>
          </a:solidFill>
          <a:ln/>
        </p:spPr>
      </p:sp>
      <p:sp>
        <p:nvSpPr>
          <p:cNvPr id="33" name="Text 31"/>
          <p:cNvSpPr/>
          <p:nvPr/>
        </p:nvSpPr>
        <p:spPr>
          <a:xfrm>
            <a:off x="4690872" y="224028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2212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Noisy &amp; multilingual input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Abbreviations (HTA, RAO), typos, mixed ES/Catalan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17720" y="2834640"/>
            <a:ext cx="4114800" cy="603504"/>
          </a:xfrm>
          <a:prstGeom prst="roundRect">
            <a:avLst>
              <a:gd name="adj" fmla="val 7576"/>
            </a:avLst>
          </a:prstGeom>
          <a:solidFill>
            <a:srgbClr val="134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90872" y="2916936"/>
            <a:ext cx="658368" cy="438912"/>
          </a:xfrm>
          <a:prstGeom prst="roundRect">
            <a:avLst>
              <a:gd name="adj" fmla="val 10417"/>
            </a:avLst>
          </a:prstGeom>
          <a:solidFill>
            <a:srgbClr val="0D7377"/>
          </a:solidFill>
          <a:ln/>
        </p:spPr>
      </p:sp>
      <p:sp>
        <p:nvSpPr>
          <p:cNvPr id="37" name="Text 35"/>
          <p:cNvSpPr/>
          <p:nvPr/>
        </p:nvSpPr>
        <p:spPr>
          <a:xfrm>
            <a:off x="4690872" y="2916936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40680" y="28895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Ambiguous literals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19% of literals map to multiple different codes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17720" y="3511296"/>
            <a:ext cx="4114800" cy="603504"/>
          </a:xfrm>
          <a:prstGeom prst="roundRect">
            <a:avLst>
              <a:gd name="adj" fmla="val 7576"/>
            </a:avLst>
          </a:prstGeom>
          <a:solidFill>
            <a:srgbClr val="134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90872" y="3593592"/>
            <a:ext cx="658368" cy="438912"/>
          </a:xfrm>
          <a:prstGeom prst="roundRect">
            <a:avLst>
              <a:gd name="adj" fmla="val 10417"/>
            </a:avLst>
          </a:prstGeom>
          <a:solidFill>
            <a:srgbClr val="0D7377"/>
          </a:solidFill>
          <a:ln/>
        </p:spPr>
      </p:sp>
      <p:sp>
        <p:nvSpPr>
          <p:cNvPr id="41" name="Text 39"/>
          <p:cNvSpPr/>
          <p:nvPr/>
        </p:nvSpPr>
        <p:spPr>
          <a:xfrm>
            <a:off x="4690872" y="3593592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sys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40680" y="3566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Mixed coding systems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64% diagnosis + 36% procedure; plus ICD-9 legacy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11480" y="4334256"/>
            <a:ext cx="832104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411480" y="4425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45% of test literals have exact matches in training  ·  Average literal length: 2.2 words  ·  Evaluation via Kaggle leaderboard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 Multi-Strategy Cascade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cascading approach that routes each literal to the best-suited method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566928"/>
          </a:xfrm>
          <a:prstGeom prst="roundRect">
            <a:avLst>
              <a:gd name="adj" fmla="val 8065"/>
            </a:avLst>
          </a:prstGeom>
          <a:solidFill>
            <a:srgbClr val="115E5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1 · PREPROCESSING 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Normalize abbreviations · Fix typos · Detect language (ES/CA) · Split diagnosis vs. procedure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2670048" cy="2148840"/>
          </a:xfrm>
          <a:prstGeom prst="roundRect">
            <a:avLst>
              <a:gd name="adj" fmla="val 2553"/>
            </a:avLst>
          </a:prstGeom>
          <a:solidFill>
            <a:srgbClr val="134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993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" y="2212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&amp; Fuzzy Match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26700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76072" y="3017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estimated coverage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6072" y="3236976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lookup for seen literals. Levenshtein distance for near-matches (typos, variants).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6072" y="3712464"/>
            <a:ext cx="1828800" cy="237744"/>
          </a:xfrm>
          <a:prstGeom prst="roundRect">
            <a:avLst>
              <a:gd name="adj" fmla="val 15385"/>
            </a:avLst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" y="37124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EA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Highest confidence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18688" y="1874520"/>
            <a:ext cx="2670048" cy="2148840"/>
          </a:xfrm>
          <a:prstGeom prst="roundRect">
            <a:avLst>
              <a:gd name="adj" fmla="val 2553"/>
            </a:avLst>
          </a:prstGeom>
          <a:solidFill>
            <a:srgbClr val="134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993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212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6700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83280" y="3017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estimated coverage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83280" y="3236976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TF-IDF char n-grams vs. 180K official ICD descriptions. BM25 ranking for best match.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3712464"/>
            <a:ext cx="1828800" cy="237744"/>
          </a:xfrm>
          <a:prstGeom prst="roundRect">
            <a:avLst>
              <a:gd name="adj" fmla="val 15385"/>
            </a:avLst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37124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EA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Handles rare codes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25896" y="1874520"/>
            <a:ext cx="2670048" cy="2148840"/>
          </a:xfrm>
          <a:prstGeom prst="roundRect">
            <a:avLst>
              <a:gd name="adj" fmla="val 2553"/>
            </a:avLst>
          </a:prstGeom>
          <a:solidFill>
            <a:srgbClr val="134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0488" y="1993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0488" y="2212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90488" y="26700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90488" y="3017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estimated coverage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90488" y="3236976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TF-IDF + SVM / Logistic Regression for codes with ≥5 examples. Hierarchy-aware features.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90488" y="3712464"/>
            <a:ext cx="1828800" cy="237744"/>
          </a:xfrm>
          <a:prstGeom prst="roundRect">
            <a:avLst>
              <a:gd name="adj" fmla="val 15385"/>
            </a:avLst>
          </a:prstGeom>
          <a:solidFill>
            <a:srgbClr val="0D7377"/>
          </a:solidFill>
          <a:ln/>
        </p:spPr>
      </p:sp>
      <p:sp>
        <p:nvSpPr>
          <p:cNvPr id="29" name="Text 27"/>
          <p:cNvSpPr/>
          <p:nvPr/>
        </p:nvSpPr>
        <p:spPr>
          <a:xfrm>
            <a:off x="6190488" y="37124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EA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for common codes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017520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24728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11480" y="422452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steps: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ICD hierarchy exploitation · ensemble voting across strategies · deep learning (multilingual transformers) for follow-up 2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4645152"/>
            <a:ext cx="8321040" cy="32004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· WHAT WE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Cascade to a Tuned Blend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02412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replaced the cascade's override logic with a probability blend — validation showed overrides HURT, so the models vote instead.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645920"/>
            <a:ext cx="3657600" cy="1417320"/>
          </a:xfrm>
          <a:prstGeom prst="roundRect">
            <a:avLst>
              <a:gd name="adj" fmla="val 3871"/>
            </a:avLst>
          </a:prstGeom>
          <a:solidFill>
            <a:srgbClr val="134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556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ENSEMBLE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029968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TF-IDF  char(2–5) + word(1–2)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LinearSVC (C≈0.25) + ComplementNB + LogReg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Spanish stopword removal &amp; light stemming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182112"/>
            <a:ext cx="3657600" cy="1325880"/>
          </a:xfrm>
          <a:prstGeom prst="roundRect">
            <a:avLst>
              <a:gd name="adj" fmla="val 4138"/>
            </a:avLst>
          </a:prstGeom>
          <a:solidFill>
            <a:srgbClr val="134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918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TRANSFORMER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56616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RoBERTa biomedical-clinical-ES (BSC)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Fine-tuned, class-weighted, 5 epochs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Augmented with CodiEsp bilingual data (+6.4K)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709160" y="2148840"/>
            <a:ext cx="4023360" cy="1874520"/>
          </a:xfrm>
          <a:prstGeom prst="roundRect">
            <a:avLst>
              <a:gd name="adj" fmla="val 3902"/>
            </a:avLst>
          </a:prstGeom>
          <a:solidFill>
            <a:srgbClr val="0D737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BLEND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615184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EEA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final = α · transformer + (1−α) · classical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α tuned directly on the leaderboard →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α ≈ 0.24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345643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Prediction = first character (chapter) of the argmax code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59028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change from the plan: 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exact/fuzzy override was dropped — it lowered accuracy because identical literals legitimately map to different chapters.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·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Climb: 0.572 → 0.595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02412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Public leaderboard accuracy (strict first-character match). Each result was verified by submission, not just local validation.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134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709928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84632" y="2178558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Starting point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(rank 5)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23160" y="1874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926080" y="160020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134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709928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99232" y="2178558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blend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(tuned α)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74920" y="1874520"/>
            <a:ext cx="1463040" cy="502920"/>
          </a:xfrm>
          <a:prstGeom prst="roundRect">
            <a:avLst>
              <a:gd name="adj" fmla="val 9091"/>
            </a:avLst>
          </a:prstGeom>
          <a:solidFill>
            <a:srgbClr val="134E4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874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LEVER BOUGHT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127248"/>
            <a:ext cx="5486400" cy="420624"/>
          </a:xfrm>
          <a:prstGeom prst="roundRect">
            <a:avLst>
              <a:gd name="adj" fmla="val 8696"/>
            </a:avLst>
          </a:prstGeom>
          <a:solidFill>
            <a:srgbClr val="134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2724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Classical ensemble + preprocessing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31012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SVC+NB+LR, stopwords, stemming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977640" y="3200400"/>
            <a:ext cx="1783080" cy="274320"/>
          </a:xfrm>
          <a:prstGeom prst="roundRect">
            <a:avLst>
              <a:gd name="adj" fmla="val 13333"/>
            </a:avLst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3977640" y="3200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602736"/>
            <a:ext cx="5486400" cy="420624"/>
          </a:xfrm>
          <a:prstGeom prst="roundRect">
            <a:avLst>
              <a:gd name="adj" fmla="val 8696"/>
            </a:avLst>
          </a:prstGeom>
          <a:solidFill>
            <a:srgbClr val="134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0273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Spanish clinical transformer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78561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reads paraphrase TF-IDF can't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977640" y="3675888"/>
            <a:ext cx="1783080" cy="274320"/>
          </a:xfrm>
          <a:prstGeom prst="roundRect">
            <a:avLst>
              <a:gd name="adj" fmla="val 13333"/>
            </a:avLst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3977640" y="36758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alone ≈ 0.50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078224"/>
            <a:ext cx="5486400" cy="420624"/>
          </a:xfrm>
          <a:prstGeom prst="roundRect">
            <a:avLst>
              <a:gd name="adj" fmla="val 8696"/>
            </a:avLst>
          </a:prstGeom>
          <a:solidFill>
            <a:srgbClr val="134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078224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Tuned probability blend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26110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α≈0.24, leaderboard-tuned — best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977640" y="4151376"/>
            <a:ext cx="1783080" cy="274320"/>
          </a:xfrm>
          <a:prstGeom prst="roundRect">
            <a:avLst>
              <a:gd name="adj" fmla="val 13333"/>
            </a:avLst>
          </a:prstGeom>
          <a:solidFill>
            <a:srgbClr val="0D7377"/>
          </a:solidFill>
          <a:ln/>
        </p:spPr>
      </p:sp>
      <p:sp>
        <p:nvSpPr>
          <p:cNvPr id="29" name="Text 27"/>
          <p:cNvSpPr/>
          <p:nvPr/>
        </p:nvSpPr>
        <p:spPr>
          <a:xfrm>
            <a:off x="3977640" y="41513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553712"/>
            <a:ext cx="5486400" cy="420624"/>
          </a:xfrm>
          <a:prstGeom prst="roundRect">
            <a:avLst>
              <a:gd name="adj" fmla="val 8696"/>
            </a:avLst>
          </a:prstGeom>
          <a:solidFill>
            <a:srgbClr val="134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55371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CodiEsp bilingual data / seed-avg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73659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tested, no gain — at the ceiling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977640" y="4626864"/>
            <a:ext cx="1783080" cy="274320"/>
          </a:xfrm>
          <a:prstGeom prst="roundRect">
            <a:avLst>
              <a:gd name="adj" fmla="val 13333"/>
            </a:avLst>
          </a:prstGeom>
          <a:solidFill>
            <a:srgbClr val="0D7377"/>
          </a:solidFill>
          <a:ln/>
        </p:spPr>
      </p:sp>
      <p:sp>
        <p:nvSpPr>
          <p:cNvPr id="34" name="Text 32"/>
          <p:cNvSpPr/>
          <p:nvPr/>
        </p:nvSpPr>
        <p:spPr>
          <a:xfrm>
            <a:off x="3977640" y="46268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+0.00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0760" y="3127248"/>
            <a:ext cx="2651760" cy="1865376"/>
          </a:xfrm>
          <a:prstGeom prst="roundRect">
            <a:avLst>
              <a:gd name="adj" fmla="val 2941"/>
            </a:avLst>
          </a:prstGeom>
          <a:solidFill>
            <a:srgbClr val="115E5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3236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0.595 IS A CEILING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36208" y="3511296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Diagnosis vs. procedure is unresolvable from short text (≈75%).
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EA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it were known → 71% possible.
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Class-weighting just trades diagnosis errors for procedure errors (a see-saw).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201168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3258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28016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Blend beats override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Probability-averaging the classical ensemble and the clinical transformer beat every single model and every lookup/override rule we tried.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231343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267712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Tune on the real metric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 validation repeatedly disagreed with the leaderboard. Tuning the blend weight α directly on submissions is what found the 0.595 peak.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3300984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3255264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mapped the ceiling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Error analysis localized the loss to diagnosis/procedure ambiguity — information not present in the literals. That diagnosis is the project's real result.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4572000"/>
            <a:ext cx="83210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TEAM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Hermes Barreiro Pena  ·  Daniel Massoud Massoud  ·  Shanthosh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ICD-10 Automated Codification</dc:title>
  <dc:subject>PptxGenJS Presentation</dc:subject>
  <dc:creator>Barreiro Pena, Hermes · Massoud Massoud, Daniel · Shanthosh</dc:creator>
  <cp:lastModifiedBy>Barreiro Pena, Hermes · Massoud Massoud, Daniel · Shanthosh</cp:lastModifiedBy>
  <cp:revision>1</cp:revision>
  <dcterms:created xsi:type="dcterms:W3CDTF">2026-05-30T08:09:14Z</dcterms:created>
  <dcterms:modified xsi:type="dcterms:W3CDTF">2026-05-30T08:09:14Z</dcterms:modified>
</cp:coreProperties>
</file>